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302" r:id="rId7"/>
    <p:sldId id="303" r:id="rId8"/>
    <p:sldId id="304" r:id="rId9"/>
    <p:sldId id="296" r:id="rId10"/>
    <p:sldId id="287" r:id="rId11"/>
    <p:sldId id="297" r:id="rId12"/>
    <p:sldId id="301" r:id="rId13"/>
    <p:sldId id="300" r:id="rId14"/>
    <p:sldId id="299" r:id="rId15"/>
    <p:sldId id="298" r:id="rId16"/>
    <p:sldId id="305" r:id="rId17"/>
    <p:sldId id="290" r:id="rId18"/>
  </p:sldIdLst>
  <p:sldSz cx="18288000" cy="10287000"/>
  <p:notesSz cx="6858000" cy="9144000"/>
  <p:embeddedFontLst>
    <p:embeddedFont>
      <p:font typeface="Archivo Black" panose="020B0604020202020204" charset="0"/>
      <p:regular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old" panose="00000800000000000000" charset="0"/>
      <p:regular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Bold" panose="00000800000000000000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01" autoAdjust="0"/>
  </p:normalViewPr>
  <p:slideViewPr>
    <p:cSldViewPr>
      <p:cViewPr varScale="1">
        <p:scale>
          <a:sx n="50" d="100"/>
          <a:sy n="50" d="100"/>
        </p:scale>
        <p:origin x="72" y="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385F-0A47-4033-BA21-3489C3C73A50}" type="datetimeFigureOut">
              <a:rPr lang="en-ZA" smtClean="0"/>
              <a:t>2025/11/10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49269-444F-492A-8CEC-BE3229EE7D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006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49269-444F-492A-8CEC-BE3229EE7DA8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5074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bliotecaepb.blogspot.com/2020/02/celebracions-do-dia-da-paz.html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search?wallpaper=estate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63449" y="0"/>
            <a:ext cx="13343601" cy="10287000"/>
            <a:chOff x="0" y="0"/>
            <a:chExt cx="206727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7273" cy="1593725"/>
            </a:xfrm>
            <a:custGeom>
              <a:avLst/>
              <a:gdLst/>
              <a:ahLst/>
              <a:cxnLst/>
              <a:rect l="l" t="t" r="r" b="b"/>
              <a:pathLst>
                <a:path w="2067273" h="1593725">
                  <a:moveTo>
                    <a:pt x="0" y="0"/>
                  </a:moveTo>
                  <a:lnTo>
                    <a:pt x="2067273" y="0"/>
                  </a:lnTo>
                  <a:lnTo>
                    <a:pt x="206727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r="-3705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6667500"/>
            <a:ext cx="8756885" cy="809502"/>
            <a:chOff x="0" y="0"/>
            <a:chExt cx="323259" cy="298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3259" cy="29883"/>
            </a:xfrm>
            <a:custGeom>
              <a:avLst/>
              <a:gdLst/>
              <a:ahLst/>
              <a:cxnLst/>
              <a:rect l="l" t="t" r="r" b="b"/>
              <a:pathLst>
                <a:path w="323259" h="29883">
                  <a:moveTo>
                    <a:pt x="0" y="0"/>
                  </a:moveTo>
                  <a:lnTo>
                    <a:pt x="323259" y="0"/>
                  </a:lnTo>
                  <a:lnTo>
                    <a:pt x="323259" y="29883"/>
                  </a:lnTo>
                  <a:lnTo>
                    <a:pt x="0" y="29883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23259" cy="67983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7951" y="4728672"/>
            <a:ext cx="13140623" cy="171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8"/>
              </a:lnSpc>
            </a:pPr>
            <a:r>
              <a:rPr lang="en-US" sz="139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NETWEAVE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7951" y="6843651"/>
            <a:ext cx="967838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Built to Connect. Secured to Protect</a:t>
            </a:r>
          </a:p>
        </p:txBody>
      </p:sp>
      <p:sp>
        <p:nvSpPr>
          <p:cNvPr id="9" name="Freeform 9"/>
          <p:cNvSpPr/>
          <p:nvPr/>
        </p:nvSpPr>
        <p:spPr>
          <a:xfrm>
            <a:off x="-1139059" y="-243369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36751" cy="8627843"/>
            <a:chOff x="0" y="0"/>
            <a:chExt cx="812800" cy="930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930469"/>
            </a:xfrm>
            <a:custGeom>
              <a:avLst/>
              <a:gdLst/>
              <a:ahLst/>
              <a:cxnLst/>
              <a:rect l="l" t="t" r="r" b="b"/>
              <a:pathLst>
                <a:path w="812800" h="930469">
                  <a:moveTo>
                    <a:pt x="0" y="0"/>
                  </a:moveTo>
                  <a:lnTo>
                    <a:pt x="812800" y="0"/>
                  </a:lnTo>
                  <a:lnTo>
                    <a:pt x="812800" y="930469"/>
                  </a:lnTo>
                  <a:lnTo>
                    <a:pt x="0" y="930469"/>
                  </a:lnTo>
                  <a:close/>
                </a:path>
              </a:pathLst>
            </a:custGeom>
            <a:blipFill>
              <a:blip r:embed="rId2"/>
              <a:stretch>
                <a:fillRect l="-51757" r="-51757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4" name="Freeform 4"/>
          <p:cNvSpPr/>
          <p:nvPr/>
        </p:nvSpPr>
        <p:spPr>
          <a:xfrm rot="-5400362">
            <a:off x="11267469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5" name="TextBox 5"/>
          <p:cNvSpPr txBox="1"/>
          <p:nvPr/>
        </p:nvSpPr>
        <p:spPr>
          <a:xfrm>
            <a:off x="6460060" y="1602355"/>
            <a:ext cx="8893917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07308" y="3170923"/>
            <a:ext cx="8093791" cy="263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420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Singalakha Nguluzane(s224201565)</a:t>
            </a:r>
          </a:p>
          <a:p>
            <a:pPr marL="604521" lvl="1" indent="-302261" algn="l">
              <a:lnSpc>
                <a:spcPts val="420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Simangaliso Ncengwa (s224513249)</a:t>
            </a:r>
          </a:p>
          <a:p>
            <a:pPr marL="604521" lvl="1" indent="-302261" algn="l">
              <a:lnSpc>
                <a:spcPts val="420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Manelisi Gumede(s223478105)</a:t>
            </a:r>
          </a:p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4.Mntukathandwa Siphesihle(s219564264)</a:t>
            </a:r>
          </a:p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5. Gloria Bokaba (s224168460)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663160" y="1631607"/>
            <a:ext cx="6760246" cy="125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lang="en-US" sz="732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2912435" y="3472452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>
            <a:off x="11796731" y="447246"/>
            <a:ext cx="5972616" cy="9392508"/>
          </a:xfrm>
          <a:custGeom>
            <a:avLst/>
            <a:gdLst/>
            <a:ahLst/>
            <a:cxnLst/>
            <a:rect l="l" t="t" r="r" b="b"/>
            <a:pathLst>
              <a:path w="5972616" h="9392508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87" r="-2387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TextBox 11"/>
          <p:cNvSpPr txBox="1"/>
          <p:nvPr/>
        </p:nvSpPr>
        <p:spPr>
          <a:xfrm>
            <a:off x="3663160" y="3397227"/>
            <a:ext cx="3773019" cy="51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63296" y="3486470"/>
            <a:ext cx="2607069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04  </a:t>
            </a:r>
          </a:p>
        </p:txBody>
      </p:sp>
      <p:sp>
        <p:nvSpPr>
          <p:cNvPr id="13" name="Freeform 13"/>
          <p:cNvSpPr/>
          <p:nvPr/>
        </p:nvSpPr>
        <p:spPr>
          <a:xfrm rot="5400000">
            <a:off x="2912435" y="4097959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TextBox 14"/>
          <p:cNvSpPr txBox="1"/>
          <p:nvPr/>
        </p:nvSpPr>
        <p:spPr>
          <a:xfrm>
            <a:off x="3663160" y="4022734"/>
            <a:ext cx="5633240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Network Design Principles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43583" y="4053282"/>
            <a:ext cx="2600834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16" name="Freeform 16"/>
          <p:cNvSpPr/>
          <p:nvPr/>
        </p:nvSpPr>
        <p:spPr>
          <a:xfrm rot="5400000">
            <a:off x="2912435" y="4723196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TextBox 17"/>
          <p:cNvSpPr txBox="1"/>
          <p:nvPr/>
        </p:nvSpPr>
        <p:spPr>
          <a:xfrm>
            <a:off x="3663160" y="4647971"/>
            <a:ext cx="5912998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Initial and Updated Topologies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17429" y="4701691"/>
            <a:ext cx="2302859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06-08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2912435" y="5348703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TextBox 20"/>
          <p:cNvSpPr txBox="1"/>
          <p:nvPr/>
        </p:nvSpPr>
        <p:spPr>
          <a:xfrm>
            <a:off x="3663160" y="5273478"/>
            <a:ext cx="5633240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Requirements and Specification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44152" y="5281122"/>
            <a:ext cx="1205856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09-10</a:t>
            </a:r>
          </a:p>
        </p:txBody>
      </p:sp>
      <p:sp>
        <p:nvSpPr>
          <p:cNvPr id="22" name="Freeform 22"/>
          <p:cNvSpPr/>
          <p:nvPr/>
        </p:nvSpPr>
        <p:spPr>
          <a:xfrm rot="5400000">
            <a:off x="2912435" y="5973940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TextBox 23"/>
          <p:cNvSpPr txBox="1"/>
          <p:nvPr/>
        </p:nvSpPr>
        <p:spPr>
          <a:xfrm>
            <a:off x="3663160" y="5898715"/>
            <a:ext cx="5964778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Core Layer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45187" y="5849751"/>
            <a:ext cx="1439040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11-12</a:t>
            </a:r>
          </a:p>
        </p:txBody>
      </p:sp>
      <p:sp>
        <p:nvSpPr>
          <p:cNvPr id="25" name="Freeform 25"/>
          <p:cNvSpPr/>
          <p:nvPr/>
        </p:nvSpPr>
        <p:spPr>
          <a:xfrm rot="5400000">
            <a:off x="2912435" y="6599447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6" name="TextBox 26"/>
          <p:cNvSpPr txBox="1"/>
          <p:nvPr/>
        </p:nvSpPr>
        <p:spPr>
          <a:xfrm>
            <a:off x="3663160" y="6524221"/>
            <a:ext cx="4397771" cy="48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Distribution Layer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86459" y="6488153"/>
            <a:ext cx="1205856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</a:p>
        </p:txBody>
      </p:sp>
      <p:sp>
        <p:nvSpPr>
          <p:cNvPr id="28" name="Freeform 28"/>
          <p:cNvSpPr/>
          <p:nvPr/>
        </p:nvSpPr>
        <p:spPr>
          <a:xfrm rot="5400000">
            <a:off x="2912435" y="7224684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9" name="TextBox 29"/>
          <p:cNvSpPr txBox="1"/>
          <p:nvPr/>
        </p:nvSpPr>
        <p:spPr>
          <a:xfrm>
            <a:off x="3663160" y="7149458"/>
            <a:ext cx="4579735" cy="102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Access  Layer</a:t>
            </a:r>
          </a:p>
          <a:p>
            <a:pPr algn="l">
              <a:lnSpc>
                <a:spcPts val="3995"/>
              </a:lnSpc>
              <a:spcBef>
                <a:spcPct val="0"/>
              </a:spcBef>
            </a:pPr>
            <a:endParaRPr lang="en-US" sz="2853" spc="-57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576158" y="7126555"/>
            <a:ext cx="1205856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14-15</a:t>
            </a:r>
          </a:p>
        </p:txBody>
      </p:sp>
      <p:sp>
        <p:nvSpPr>
          <p:cNvPr id="31" name="Freeform 31"/>
          <p:cNvSpPr/>
          <p:nvPr/>
        </p:nvSpPr>
        <p:spPr>
          <a:xfrm rot="5400000">
            <a:off x="2906064" y="7822767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2" name="TextBox 32"/>
          <p:cNvSpPr txBox="1"/>
          <p:nvPr/>
        </p:nvSpPr>
        <p:spPr>
          <a:xfrm>
            <a:off x="3663160" y="7774965"/>
            <a:ext cx="4397771" cy="48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Legend and Conclusion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84084" y="7817721"/>
            <a:ext cx="994840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16-17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/>
          <p:cNvGrpSpPr/>
          <p:nvPr/>
        </p:nvGrpSpPr>
        <p:grpSpPr>
          <a:xfrm>
            <a:off x="1634679" y="1856140"/>
            <a:ext cx="15018641" cy="7402160"/>
            <a:chOff x="0" y="0"/>
            <a:chExt cx="3955527" cy="19495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55527" cy="1949540"/>
            </a:xfrm>
            <a:custGeom>
              <a:avLst/>
              <a:gdLst/>
              <a:ahLst/>
              <a:cxnLst/>
              <a:rect l="l" t="t" r="r" b="b"/>
              <a:pathLst>
                <a:path w="3955527" h="1949540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70972" y="2076154"/>
            <a:ext cx="8146056" cy="1311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27"/>
              </a:lnSpc>
            </a:pPr>
            <a:r>
              <a:rPr lang="en-US" sz="7233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4355" y="3387840"/>
            <a:ext cx="13444089" cy="539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6"/>
              </a:lnSpc>
            </a:pPr>
            <a:r>
              <a:rPr lang="en-US" sz="3361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This presentation is a German division of five locations of LinkTech, an international technology research and development company.  It was initially divided into four branches namely, Munich, Berlin, Frankfurt ,Stuttgart and later joined by a new branch, Hamburg. The focus of the following presentation is to breakdown the division, recommending necessary changes and implementing them in a form of logical diagrams mapping them to the network design Principles 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3426" y="8793922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 rot="-10800000">
            <a:off x="3967748" y="564322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5" y="0"/>
                </a:lnTo>
                <a:lnTo>
                  <a:pt x="6385195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TextBox 4"/>
          <p:cNvSpPr txBox="1"/>
          <p:nvPr/>
        </p:nvSpPr>
        <p:spPr>
          <a:xfrm>
            <a:off x="701729" y="1187264"/>
            <a:ext cx="16230600" cy="738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endParaRPr lang="en-US" sz="2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00"/>
              </a:lnSpc>
            </a:pPr>
            <a:r>
              <a:rPr lang="en-US" sz="26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Network Design principle considered-:</a:t>
            </a:r>
          </a:p>
          <a:p>
            <a:pPr algn="l">
              <a:lnSpc>
                <a:spcPts val="3900"/>
              </a:lnSpc>
            </a:pPr>
            <a:endParaRPr lang="en-US" sz="26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737871" lvl="1" indent="-457200" algn="l">
              <a:lnSpc>
                <a:spcPts val="39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Requirements Gathering and Planning.</a:t>
            </a:r>
          </a:p>
          <a:p>
            <a:pPr marL="737871" lvl="1" indent="-457200" algn="l">
              <a:lnSpc>
                <a:spcPts val="39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Network Architecture and Design </a:t>
            </a:r>
          </a:p>
          <a:p>
            <a:pPr marL="737871" lvl="1" indent="-457200" algn="l">
              <a:lnSpc>
                <a:spcPts val="39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Security and Compliance </a:t>
            </a:r>
          </a:p>
          <a:p>
            <a:pPr marL="737871" lvl="1" indent="-457200" algn="l">
              <a:lnSpc>
                <a:spcPts val="39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and Scalability</a:t>
            </a:r>
          </a:p>
          <a:p>
            <a:pPr marL="737871" lvl="1" indent="-457200" algn="l">
              <a:lnSpc>
                <a:spcPts val="39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Implementation and Deployment </a:t>
            </a:r>
          </a:p>
          <a:p>
            <a:pPr marL="737871" lvl="1" indent="-457200" algn="l">
              <a:lnSpc>
                <a:spcPts val="39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Monitoring and Maintenance</a:t>
            </a:r>
          </a:p>
          <a:p>
            <a:pPr marL="737871" lvl="1" indent="-457200" algn="l">
              <a:lnSpc>
                <a:spcPts val="39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Evaluation and Optimization</a:t>
            </a:r>
          </a:p>
          <a:p>
            <a:pPr algn="l">
              <a:lnSpc>
                <a:spcPts val="3900"/>
              </a:lnSpc>
            </a:pPr>
            <a:endParaRPr lang="en-US" sz="2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00"/>
              </a:lnSpc>
            </a:pPr>
            <a:endParaRPr lang="en-US" sz="2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00"/>
              </a:lnSpc>
            </a:pPr>
            <a:endParaRPr lang="en-US" sz="2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00"/>
              </a:lnSpc>
            </a:pPr>
            <a:endParaRPr lang="en-US" sz="2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00"/>
              </a:lnSpc>
            </a:pPr>
            <a:endParaRPr lang="en-US" sz="2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37C701E-5151-4086-9CF2-7F44AA38A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305" y="928047"/>
            <a:ext cx="547532" cy="54753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56C08E-A84B-4C76-9D3B-46237B5A9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305" y="928047"/>
            <a:ext cx="547532" cy="54753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5" descr="A diagram of a network&#10;&#10;AI-generated content may be incorrect.">
            <a:extLst>
              <a:ext uri="{FF2B5EF4-FFF2-40B4-BE49-F238E27FC236}">
                <a16:creationId xmlns:a16="http://schemas.microsoft.com/office/drawing/2014/main" id="{B5EEAA86-6E3C-B7B3-014E-3BC22C6CF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372" y="483756"/>
            <a:ext cx="6489380" cy="4396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092BFD-58B9-AD3E-352C-3ED64AD1E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340" y="3285226"/>
            <a:ext cx="7145702" cy="4394607"/>
          </a:xfrm>
          <a:prstGeom prst="rect">
            <a:avLst/>
          </a:prstGeom>
        </p:spPr>
      </p:pic>
      <p:grpSp>
        <p:nvGrpSpPr>
          <p:cNvPr id="17" name="Graphic 4">
            <a:extLst>
              <a:ext uri="{FF2B5EF4-FFF2-40B4-BE49-F238E27FC236}">
                <a16:creationId xmlns:a16="http://schemas.microsoft.com/office/drawing/2014/main" id="{72FB3F6E-946C-4B30-8EAA-64FA3056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8849" y="7636991"/>
            <a:ext cx="1462755" cy="1462757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820447A-FA0D-448D-8513-13647DCEE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80F5A0F-E8FC-415B-BA7F-74C42D42C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77443A5-2061-492B-AFF5-658AB7E7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76C0A3-C877-457C-917D-473FABC9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9808886-A26A-41C2-9401-727236349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FB169C8-A66F-4AEC-BBEE-4DEBBE844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EC418CD-F215-459D-8919-D5B5194EB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034A84-840E-429B-9A4F-ECC31AB62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D050DBA-8800-4A73-84C0-34DC71A6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D4BF35D-BFFA-45A5-8081-FEDD30757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6B354BD-25DC-42A0-9CE7-824686810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52C4A08-6644-42B7-8237-2AD5F0041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1D58C06-A184-4272-9824-2F0853518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BFFE5E-458D-5780-275D-E8FF533FBDC6}"/>
              </a:ext>
            </a:extLst>
          </p:cNvPr>
          <p:cNvSpPr txBox="1"/>
          <p:nvPr/>
        </p:nvSpPr>
        <p:spPr>
          <a:xfrm>
            <a:off x="9932281" y="1257300"/>
            <a:ext cx="7074348" cy="7842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u="sng" dirty="0">
                <a:solidFill>
                  <a:schemeClr val="bg1"/>
                </a:solidFill>
              </a:rPr>
              <a:t>Initial Logical Topologies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622F7-F83C-9E4A-8620-885FB5C44103}"/>
              </a:ext>
            </a:extLst>
          </p:cNvPr>
          <p:cNvSpPr txBox="1"/>
          <p:nvPr/>
        </p:nvSpPr>
        <p:spPr>
          <a:xfrm>
            <a:off x="1066800" y="8249334"/>
            <a:ext cx="1909497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Munich Initial LAN</a:t>
            </a:r>
            <a:endParaRPr lang="en-ZA"/>
          </a:p>
          <a:p>
            <a:pPr>
              <a:spcAft>
                <a:spcPts val="600"/>
              </a:spcAft>
            </a:pPr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DDB94-E131-CF3F-15F2-A16175D7D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6845" y="5524500"/>
            <a:ext cx="6563908" cy="42787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FD31BD-FDC3-C1AB-0713-6D031CD209E5}"/>
              </a:ext>
            </a:extLst>
          </p:cNvPr>
          <p:cNvSpPr txBox="1"/>
          <p:nvPr/>
        </p:nvSpPr>
        <p:spPr>
          <a:xfrm>
            <a:off x="1489951" y="4438162"/>
            <a:ext cx="1445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Stuttgart LAN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255A9F-C226-727B-8BC4-BAAE5215E365}"/>
              </a:ext>
            </a:extLst>
          </p:cNvPr>
          <p:cNvSpPr txBox="1"/>
          <p:nvPr/>
        </p:nvSpPr>
        <p:spPr>
          <a:xfrm>
            <a:off x="9932281" y="3924300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Munich LAN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423E59-3BBD-D232-B886-2766177A674C}"/>
              </a:ext>
            </a:extLst>
          </p:cNvPr>
          <p:cNvSpPr txBox="1"/>
          <p:nvPr/>
        </p:nvSpPr>
        <p:spPr>
          <a:xfrm>
            <a:off x="1419519" y="60579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Berlin LAN</a:t>
            </a:r>
          </a:p>
        </p:txBody>
      </p:sp>
    </p:spTree>
    <p:extLst>
      <p:ext uri="{BB962C8B-B14F-4D97-AF65-F5344CB8AC3E}">
        <p14:creationId xmlns:p14="http://schemas.microsoft.com/office/powerpoint/2010/main" val="2378516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151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85299" y="720090"/>
            <a:ext cx="8187183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71C313-D8B5-5BCF-CE47-9DF068A0F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552" y="2065629"/>
            <a:ext cx="7694676" cy="61557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8187181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D1AA65-CDE3-F91A-840F-ABB850562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70" y="2652348"/>
            <a:ext cx="7694676" cy="49823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EFDC9A-B072-94FF-838E-AA40644C8F85}"/>
              </a:ext>
            </a:extLst>
          </p:cNvPr>
          <p:cNvSpPr txBox="1"/>
          <p:nvPr/>
        </p:nvSpPr>
        <p:spPr>
          <a:xfrm>
            <a:off x="1219200" y="8496300"/>
            <a:ext cx="148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Hamburg 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EE6A7-2E51-C921-2963-2F33CD46AF75}"/>
              </a:ext>
            </a:extLst>
          </p:cNvPr>
          <p:cNvSpPr txBox="1"/>
          <p:nvPr/>
        </p:nvSpPr>
        <p:spPr>
          <a:xfrm>
            <a:off x="9829800" y="8865632"/>
            <a:ext cx="148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Frankfurt LAN</a:t>
            </a:r>
          </a:p>
        </p:txBody>
      </p:sp>
    </p:spTree>
    <p:extLst>
      <p:ext uri="{BB962C8B-B14F-4D97-AF65-F5344CB8AC3E}">
        <p14:creationId xmlns:p14="http://schemas.microsoft.com/office/powerpoint/2010/main" val="5370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26309" y="2126307"/>
            <a:ext cx="10313727" cy="6061116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37743" y="3990710"/>
            <a:ext cx="6533391" cy="6057905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71323" y="2457128"/>
            <a:ext cx="10286358" cy="5372102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21033" y="1801968"/>
            <a:ext cx="7212453" cy="6132999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AC06E-438D-EE5C-94C2-9189E801B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61" y="4150659"/>
            <a:ext cx="4321242" cy="46078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000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 Of the Updated version</a:t>
            </a:r>
          </a:p>
        </p:txBody>
      </p:sp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4EDF3B16-74D9-1368-7732-BDF330549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016" y="1257300"/>
            <a:ext cx="11234584" cy="750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5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486854-3DA2-FA7B-63C6-5960D9AC428A}"/>
              </a:ext>
            </a:extLst>
          </p:cNvPr>
          <p:cNvSpPr txBox="1"/>
          <p:nvPr/>
        </p:nvSpPr>
        <p:spPr>
          <a:xfrm>
            <a:off x="721519" y="5629273"/>
            <a:ext cx="4936331" cy="3679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>
                <a:latin typeface="+mj-lt"/>
                <a:ea typeface="+mj-ea"/>
                <a:cs typeface="+mj-cs"/>
              </a:rPr>
              <a:t> Requirements and Specifications</a:t>
            </a:r>
          </a:p>
        </p:txBody>
      </p:sp>
      <p:pic>
        <p:nvPicPr>
          <p:cNvPr id="5" name="Picture 4" descr="Blue gears with icons on them&#10;&#10;AI-generated content may be incorrect.">
            <a:extLst>
              <a:ext uri="{FF2B5EF4-FFF2-40B4-BE49-F238E27FC236}">
                <a16:creationId xmlns:a16="http://schemas.microsoft.com/office/drawing/2014/main" id="{010A1390-599E-09C0-E82C-929234A1F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3269" b="22625"/>
          <a:stretch>
            <a:fillRect/>
          </a:stretch>
        </p:blipFill>
        <p:spPr>
          <a:xfrm>
            <a:off x="20" y="10"/>
            <a:ext cx="18287980" cy="5565909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82A116-DC9C-834F-25D9-80D56048CA1B}"/>
              </a:ext>
            </a:extLst>
          </p:cNvPr>
          <p:cNvSpPr txBox="1"/>
          <p:nvPr/>
        </p:nvSpPr>
        <p:spPr>
          <a:xfrm>
            <a:off x="6335973" y="5629275"/>
            <a:ext cx="11228119" cy="36790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71500" marR="0" lvl="0" indent="-4572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Evaluate the LANs using design principles</a:t>
            </a:r>
          </a:p>
          <a:p>
            <a:pPr marL="571500" marR="0" lvl="0" indent="-4572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800" dirty="0"/>
              <a:t>Document changes on the RFC</a:t>
            </a:r>
            <a:endParaRPr kumimoji="0" lang="en-US" sz="28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571500" marR="0" lvl="0" indent="-4572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Cater for </a:t>
            </a:r>
            <a:r>
              <a:rPr kumimoji="0" lang="en-US" sz="2800" b="0" i="0" u="none" strike="noStrike" cap="none" spc="0" normalizeH="0" baseline="0" noProof="0" dirty="0">
                <a:ln>
                  <a:noFill/>
                </a:ln>
                <a:effectLst/>
                <a:highlight>
                  <a:srgbClr val="00FFFF"/>
                </a:highlight>
                <a:uLnTx/>
                <a:uFillTx/>
              </a:rPr>
              <a:t>150 </a:t>
            </a:r>
            <a:r>
              <a:rPr kumimoji="0" lang="en-US" sz="2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users, with </a:t>
            </a:r>
            <a:r>
              <a:rPr kumimoji="0" lang="en-US" sz="2800" b="0" i="0" u="sng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40% growth </a:t>
            </a:r>
            <a:r>
              <a:rPr kumimoji="0" lang="en-US" sz="2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 five years (210 users)</a:t>
            </a:r>
          </a:p>
          <a:p>
            <a:pPr marL="571500" marR="0" lvl="0" indent="-4572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Use hierarchical IPv4 scheme</a:t>
            </a:r>
          </a:p>
          <a:p>
            <a:pPr marL="571500" marR="0" lvl="0" indent="-4572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Create logical topology</a:t>
            </a:r>
          </a:p>
          <a:p>
            <a:pPr marL="571500" marR="0" lvl="0" indent="-4572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Create policies( Failover, Disaster recovery)</a:t>
            </a:r>
          </a:p>
          <a:p>
            <a:pPr marL="571500" marR="0" lvl="0" indent="-4572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Ensure secure inter-branch connectivity</a:t>
            </a:r>
          </a:p>
          <a:p>
            <a:pPr marL="571500" marR="0" lvl="0" indent="-4572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Enable VoIP services</a:t>
            </a:r>
          </a:p>
          <a:p>
            <a:pPr marL="114300" marR="0" lvl="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28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29370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899603"/>
            <a:ext cx="18287996" cy="2386113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905262"/>
            <a:ext cx="18277996" cy="2386113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7898319"/>
            <a:ext cx="6115047" cy="2386113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0002" y="7895224"/>
            <a:ext cx="18287999" cy="23961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50EFE-386D-1AC9-9878-FE25BE0A61EA}"/>
              </a:ext>
            </a:extLst>
          </p:cNvPr>
          <p:cNvSpPr txBox="1"/>
          <p:nvPr/>
        </p:nvSpPr>
        <p:spPr>
          <a:xfrm>
            <a:off x="2910384" y="5749798"/>
            <a:ext cx="12499239" cy="1679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>
                <a:effectLst/>
              </a:rPr>
              <a:t>Number of pc’s is equal the number of Ip-phone</a:t>
            </a:r>
          </a:p>
          <a:p>
            <a:pPr marL="285750"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>
                <a:effectLst/>
              </a:rPr>
              <a:t>Implement Class </a:t>
            </a:r>
            <a:r>
              <a:rPr lang="en-US" sz="3000"/>
              <a:t>B </a:t>
            </a:r>
            <a:r>
              <a:rPr lang="en-US" sz="3000">
                <a:effectLst/>
              </a:rPr>
              <a:t>type 172.16.0.0/16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0211D1-D82C-AB47-D9F9-071B4C91E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906705"/>
              </p:ext>
            </p:extLst>
          </p:nvPr>
        </p:nvGraphicFramePr>
        <p:xfrm>
          <a:off x="2910384" y="798575"/>
          <a:ext cx="12467230" cy="443346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93446">
                  <a:extLst>
                    <a:ext uri="{9D8B030D-6E8A-4147-A177-3AD203B41FA5}">
                      <a16:colId xmlns:a16="http://schemas.microsoft.com/office/drawing/2014/main" val="254580042"/>
                    </a:ext>
                  </a:extLst>
                </a:gridCol>
                <a:gridCol w="2493446">
                  <a:extLst>
                    <a:ext uri="{9D8B030D-6E8A-4147-A177-3AD203B41FA5}">
                      <a16:colId xmlns:a16="http://schemas.microsoft.com/office/drawing/2014/main" val="576172118"/>
                    </a:ext>
                  </a:extLst>
                </a:gridCol>
                <a:gridCol w="2493446">
                  <a:extLst>
                    <a:ext uri="{9D8B030D-6E8A-4147-A177-3AD203B41FA5}">
                      <a16:colId xmlns:a16="http://schemas.microsoft.com/office/drawing/2014/main" val="3125450249"/>
                    </a:ext>
                  </a:extLst>
                </a:gridCol>
                <a:gridCol w="2493446">
                  <a:extLst>
                    <a:ext uri="{9D8B030D-6E8A-4147-A177-3AD203B41FA5}">
                      <a16:colId xmlns:a16="http://schemas.microsoft.com/office/drawing/2014/main" val="766747632"/>
                    </a:ext>
                  </a:extLst>
                </a:gridCol>
                <a:gridCol w="2493446">
                  <a:extLst>
                    <a:ext uri="{9D8B030D-6E8A-4147-A177-3AD203B41FA5}">
                      <a16:colId xmlns:a16="http://schemas.microsoft.com/office/drawing/2014/main" val="1096045306"/>
                    </a:ext>
                  </a:extLst>
                </a:gridCol>
              </a:tblGrid>
              <a:tr h="675055">
                <a:tc>
                  <a:txBody>
                    <a:bodyPr/>
                    <a:lstStyle/>
                    <a:p>
                      <a:r>
                        <a:rPr lang="en-US" sz="1800"/>
                        <a:t>Vlan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Original number of Users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No. of users (+ 40%)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Number of switchports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Number of Access Points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69335539"/>
                  </a:ext>
                </a:extLst>
              </a:tr>
              <a:tr h="401384">
                <a:tc>
                  <a:txBody>
                    <a:bodyPr/>
                    <a:lstStyle/>
                    <a:p>
                      <a:r>
                        <a:rPr lang="en-US" sz="1800"/>
                        <a:t>Accounting &amp; Finance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20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28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48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1558958320"/>
                  </a:ext>
                </a:extLst>
              </a:tr>
              <a:tr h="401384">
                <a:tc>
                  <a:txBody>
                    <a:bodyPr/>
                    <a:lstStyle/>
                    <a:p>
                      <a:r>
                        <a:rPr lang="en-US" sz="1800"/>
                        <a:t>ICT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25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35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48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2408575832"/>
                  </a:ext>
                </a:extLst>
              </a:tr>
              <a:tr h="401384">
                <a:tc>
                  <a:txBody>
                    <a:bodyPr/>
                    <a:lstStyle/>
                    <a:p>
                      <a:r>
                        <a:rPr lang="en-US" sz="1800"/>
                        <a:t>HR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15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21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24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108920797"/>
                  </a:ext>
                </a:extLst>
              </a:tr>
              <a:tr h="675055">
                <a:tc>
                  <a:txBody>
                    <a:bodyPr/>
                    <a:lstStyle/>
                    <a:p>
                      <a:r>
                        <a:rPr lang="en-US" sz="1800"/>
                        <a:t>Executive Management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20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28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48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1601051544"/>
                  </a:ext>
                </a:extLst>
              </a:tr>
              <a:tr h="401384">
                <a:tc>
                  <a:txBody>
                    <a:bodyPr/>
                    <a:lstStyle/>
                    <a:p>
                      <a:r>
                        <a:rPr lang="en-US" sz="1800"/>
                        <a:t>Legal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15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21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24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3512848882"/>
                  </a:ext>
                </a:extLst>
              </a:tr>
              <a:tr h="401384">
                <a:tc>
                  <a:txBody>
                    <a:bodyPr/>
                    <a:lstStyle/>
                    <a:p>
                      <a:r>
                        <a:rPr lang="en-US" sz="1800"/>
                        <a:t>Sales &amp; Marketing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13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19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24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2921958560"/>
                  </a:ext>
                </a:extLst>
              </a:tr>
              <a:tr h="401384">
                <a:tc>
                  <a:txBody>
                    <a:bodyPr/>
                    <a:lstStyle/>
                    <a:p>
                      <a:r>
                        <a:rPr lang="en-US" sz="1800"/>
                        <a:t>Operations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17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24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48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3696936584"/>
                  </a:ext>
                </a:extLst>
              </a:tr>
              <a:tr h="675055">
                <a:tc>
                  <a:txBody>
                    <a:bodyPr/>
                    <a:lstStyle/>
                    <a:p>
                      <a:r>
                        <a:rPr lang="en-US" sz="1800"/>
                        <a:t>Research &amp; Development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28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35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48</a:t>
                      </a:r>
                      <a:endParaRPr lang="en-ZA" sz="1800"/>
                    </a:p>
                  </a:txBody>
                  <a:tcPr marL="91224" marR="91224" marT="45612" marB="45612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ZA" sz="1800"/>
                    </a:p>
                  </a:txBody>
                  <a:tcPr marL="91224" marR="91224" marT="45612" marB="45612"/>
                </a:tc>
                <a:extLst>
                  <a:ext uri="{0D108BD9-81ED-4DB2-BD59-A6C34878D82A}">
                    <a16:rowId xmlns:a16="http://schemas.microsoft.com/office/drawing/2014/main" val="296557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80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8287996" cy="238611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0"/>
            <a:ext cx="12172958" cy="238611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-1"/>
            <a:ext cx="6115047" cy="238611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025" y="-1"/>
            <a:ext cx="17598969" cy="2396149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5B9C7-A54B-7126-6752-BE070390D876}"/>
              </a:ext>
            </a:extLst>
          </p:cNvPr>
          <p:cNvSpPr txBox="1"/>
          <p:nvPr/>
        </p:nvSpPr>
        <p:spPr>
          <a:xfrm>
            <a:off x="2057398" y="441807"/>
            <a:ext cx="14843927" cy="1550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Network Architecture and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F8378-2F7F-E687-099F-611A68368CE9}"/>
              </a:ext>
            </a:extLst>
          </p:cNvPr>
          <p:cNvSpPr txBox="1"/>
          <p:nvPr/>
        </p:nvSpPr>
        <p:spPr>
          <a:xfrm>
            <a:off x="2057398" y="3477295"/>
            <a:ext cx="14586047" cy="5525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Implemented a 3-Tier Hierarchical Architecture: Transition to a Core, Distribution, and Access layer model to enhance performance, scalability, and resilience.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OSPF – Configured on the network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u="sng" dirty="0"/>
              <a:t>The Core Layer: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Implement Dual ISP connectivity (ISP-Primary, Pay-as Use -Backup) for high availability.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The services for telephony are running on the core.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NAT – Configured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VPN – Configured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We implemented an integrated firewall, since we are running  telephony services on this layer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We used a static route between ISPs, a default route pointing to the primary ISP and a floating route pointing to the PAY AS USE ISP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To demonstrate that the Lan can communicate  with the Internet, We added a server connecting to the ISPs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Zone Based Firewall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48974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6569B-DB98-86BF-9B47-3AC14C146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76300"/>
            <a:ext cx="17145000" cy="73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12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" y="0"/>
            <a:ext cx="18283428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3113131"/>
            <a:ext cx="18073095" cy="6139960"/>
            <a:chOff x="1" y="2075420"/>
            <a:chExt cx="12048729" cy="4093306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889308" y="-1280992"/>
            <a:ext cx="822960" cy="549007"/>
            <a:chOff x="7029447" y="3514725"/>
            <a:chExt cx="1285875" cy="549007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787488" y="907599"/>
            <a:ext cx="304800" cy="644652"/>
            <a:chOff x="215328" y="-46937"/>
            <a:chExt cx="304800" cy="2773841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9211177"/>
            <a:ext cx="9143995" cy="1066878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2819134" y="9048092"/>
            <a:ext cx="1928813" cy="549007"/>
            <a:chOff x="7029447" y="3514725"/>
            <a:chExt cx="1285875" cy="549007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5D03AAB-1C1C-503D-0D4C-84DF18C37569}"/>
              </a:ext>
            </a:extLst>
          </p:cNvPr>
          <p:cNvSpPr txBox="1"/>
          <p:nvPr/>
        </p:nvSpPr>
        <p:spPr>
          <a:xfrm>
            <a:off x="946404" y="6027205"/>
            <a:ext cx="6853590" cy="31943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R="0" lv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7200" b="1" i="0" u="sng" strike="noStrike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Distribution Layer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0BB6D2-3AF7-6808-8CAA-4C436EC46251}"/>
              </a:ext>
            </a:extLst>
          </p:cNvPr>
          <p:cNvSpPr txBox="1"/>
          <p:nvPr/>
        </p:nvSpPr>
        <p:spPr>
          <a:xfrm>
            <a:off x="8229120" y="6027214"/>
            <a:ext cx="8511157" cy="31943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We used HSRP for redundancy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STP – Configured for load balancing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Wireless Lan Controller – Used since there is high availability in the network, there is a lot of bandwidth and faster speed in the distribution.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On the servers we are running FTP for file transfer protocol and email services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VTP – Configured in server mode</a:t>
            </a:r>
          </a:p>
        </p:txBody>
      </p:sp>
      <p:pic>
        <p:nvPicPr>
          <p:cNvPr id="6" name="Picture 5" descr="A close-up of a network&#10;&#10;AI-generated content may be incorrect.">
            <a:extLst>
              <a:ext uri="{FF2B5EF4-FFF2-40B4-BE49-F238E27FC236}">
                <a16:creationId xmlns:a16="http://schemas.microsoft.com/office/drawing/2014/main" id="{FF1C7F7C-E260-257E-D8C2-6AE4BA2D5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68" y="1019019"/>
            <a:ext cx="16534548" cy="442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24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20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" y="0"/>
            <a:ext cx="18283428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3113131"/>
            <a:ext cx="18073095" cy="6139960"/>
            <a:chOff x="1" y="2075420"/>
            <a:chExt cx="12048729" cy="4093306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3" name="Rectangle 21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889308" y="-1280992"/>
            <a:ext cx="822960" cy="549007"/>
            <a:chOff x="7029447" y="3514725"/>
            <a:chExt cx="1285875" cy="549007"/>
          </a:xfrm>
        </p:grpSpPr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computer network diagram with many different colored squares&#10;&#10;AI-generated content may be incorrect.">
            <a:extLst>
              <a:ext uri="{FF2B5EF4-FFF2-40B4-BE49-F238E27FC236}">
                <a16:creationId xmlns:a16="http://schemas.microsoft.com/office/drawing/2014/main" id="{7852EF87-C3AA-2031-3B29-C60621100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1" r="1" b="16510"/>
          <a:stretch>
            <a:fillRect/>
          </a:stretch>
        </p:blipFill>
        <p:spPr>
          <a:xfrm>
            <a:off x="939885" y="476367"/>
            <a:ext cx="16276666" cy="5262655"/>
          </a:xfrm>
          <a:prstGeom prst="rect">
            <a:avLst/>
          </a:prstGeom>
        </p:spPr>
      </p:pic>
      <p:grpSp>
        <p:nvGrpSpPr>
          <p:cNvPr id="221" name="Group 22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787488" y="907599"/>
            <a:ext cx="304800" cy="644652"/>
            <a:chOff x="215328" y="-46937"/>
            <a:chExt cx="304800" cy="2773841"/>
          </a:xfrm>
        </p:grpSpPr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7" name="Rectangle 22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9211177"/>
            <a:ext cx="9143995" cy="1066878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2819134" y="9048092"/>
            <a:ext cx="1928813" cy="549007"/>
            <a:chOff x="7029447" y="3514725"/>
            <a:chExt cx="1285875" cy="549007"/>
          </a:xfrm>
        </p:grpSpPr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13A6FD-74DC-36EE-C2C3-CD7650CCD6C3}"/>
              </a:ext>
            </a:extLst>
          </p:cNvPr>
          <p:cNvSpPr txBox="1"/>
          <p:nvPr/>
        </p:nvSpPr>
        <p:spPr>
          <a:xfrm>
            <a:off x="946404" y="6027205"/>
            <a:ext cx="6853590" cy="31943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u="sng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Access Layer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99E3B99-814D-38BE-DAF8-325424BFF89B}"/>
              </a:ext>
            </a:extLst>
          </p:cNvPr>
          <p:cNvSpPr txBox="1"/>
          <p:nvPr/>
        </p:nvSpPr>
        <p:spPr>
          <a:xfrm>
            <a:off x="8229120" y="6027214"/>
            <a:ext cx="8511157" cy="31943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u="sng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dirty="0">
              <a:solidFill>
                <a:schemeClr val="bg1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We configured access ports and trunk ports to connect to the distribution layer.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Bpdu guard - Enabled to protects our network from accidental or malicious STP changes.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Vtp – Configured in client mode to receive vlans from the distribution layer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Portfast – For  Faster device connectivity (no STP delay) on access ports.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Rootguard - To prevent access ports from being root bridges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For security purposes, we ran dhcp snooping for attackers not to put wrong dhcp servers in our Lans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Vty lines are protected</a:t>
            </a:r>
          </a:p>
        </p:txBody>
      </p:sp>
    </p:spTree>
    <p:extLst>
      <p:ext uri="{BB962C8B-B14F-4D97-AF65-F5344CB8AC3E}">
        <p14:creationId xmlns:p14="http://schemas.microsoft.com/office/powerpoint/2010/main" val="3168184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8288000" cy="10286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26309" y="2126307"/>
            <a:ext cx="10313727" cy="6061116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39348" y="3989106"/>
            <a:ext cx="6533391" cy="606111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A9882-0CC1-CC16-D33E-265AAD773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937"/>
          <a:stretch>
            <a:fillRect/>
          </a:stretch>
        </p:blipFill>
        <p:spPr>
          <a:xfrm>
            <a:off x="6057898" y="10"/>
            <a:ext cx="12240039" cy="10313718"/>
          </a:xfrm>
          <a:prstGeom prst="rect">
            <a:avLst/>
          </a:prstGeom>
        </p:spPr>
      </p:pic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21033" y="1801968"/>
            <a:ext cx="7212453" cy="6132999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93EAB-C635-45AA-D788-E175471AAD2D}"/>
              </a:ext>
            </a:extLst>
          </p:cNvPr>
          <p:cNvSpPr txBox="1"/>
          <p:nvPr/>
        </p:nvSpPr>
        <p:spPr>
          <a:xfrm>
            <a:off x="195973" y="4000500"/>
            <a:ext cx="4578440" cy="52971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Segmentation</a:t>
            </a:r>
          </a:p>
        </p:txBody>
      </p:sp>
    </p:spTree>
    <p:extLst>
      <p:ext uri="{BB962C8B-B14F-4D97-AF65-F5344CB8AC3E}">
        <p14:creationId xmlns:p14="http://schemas.microsoft.com/office/powerpoint/2010/main" val="2141083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F4D5922-434B-4829-B93E-02DC38A29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" y="0"/>
            <a:ext cx="18283428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35FBA24-5C01-4635-A984-1DB6E340B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9A5114-55F8-4976-BBE9-EB03D13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3113131"/>
            <a:ext cx="18073095" cy="6139960"/>
            <a:chOff x="1" y="2075420"/>
            <a:chExt cx="12048729" cy="4093306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68E7F15-1BC6-438A-8D72-8DC7AED51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1641807-6842-4066-AF10-93EC82C9F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982CAD2-2793-4D56-BE4D-E6CEF77D7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2ADA1AD-25F7-4EE1-9E91-CB4534B56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7625553-33A6-42A6-BA58-B6F60A4E5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5B990D2-1682-41A9-850F-4DC602C31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5819102A-0400-4C1F-8614-973F5262E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A8FBDFC-CF2A-4A9A-88B1-15D45D68B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889308" y="-1280992"/>
            <a:ext cx="822960" cy="549007"/>
            <a:chOff x="7029447" y="3514725"/>
            <a:chExt cx="1285875" cy="549007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EC299EF-4D18-40D1-AAB9-5082B26AB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649880C-55B6-4C46-A7F6-6A2856231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C809907-F418-42B7-B7DA-7578B44AA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71152CA-C7C6-498B-AC68-B4620D242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CF1485CA-41D2-421F-B28D-15EF845D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9211177"/>
            <a:ext cx="9143995" cy="1066878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4ED96A1-E6CA-493F-8610-6B8B7A28E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2819134" y="9048092"/>
            <a:ext cx="1928813" cy="549007"/>
            <a:chOff x="7029447" y="3514725"/>
            <a:chExt cx="1285875" cy="549007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C9231B8-0812-4FDE-9AC6-94984E20A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BF59FE3-7AD8-46E8-9440-D26863994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EEEDF00-F676-4147-BAF0-64840E285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4D3F73A-55E6-4A58-872D-BE9E9C7C3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78891D9-BCFC-2ED7-2454-49BCFDA67F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217" b="1"/>
          <a:stretch>
            <a:fillRect/>
          </a:stretch>
        </p:blipFill>
        <p:spPr>
          <a:xfrm>
            <a:off x="6629401" y="775577"/>
            <a:ext cx="10606096" cy="8597023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8D2BC472-0671-410F-BA77-E46AA621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0377705" y="1459089"/>
            <a:ext cx="304800" cy="644652"/>
            <a:chOff x="215328" y="-46937"/>
            <a:chExt cx="304800" cy="2773841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C68B2A3-267E-4DE4-8DD5-C0378482D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6474CC6-D7FB-4A38-8991-680F048CF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825D0E-A1E4-4466-81B2-33325B3B3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1BD1E16-C3EF-4A05-9C71-590A55BFC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E5AE355-D675-45F0-0FF8-2F5C67C95A02}"/>
              </a:ext>
            </a:extLst>
          </p:cNvPr>
          <p:cNvSpPr txBox="1"/>
          <p:nvPr/>
        </p:nvSpPr>
        <p:spPr>
          <a:xfrm>
            <a:off x="946404" y="914400"/>
            <a:ext cx="9256803" cy="422909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1411705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large stone building with pillars&#10;&#10;AI-generated content may be incorrect.">
            <a:extLst>
              <a:ext uri="{FF2B5EF4-FFF2-40B4-BE49-F238E27FC236}">
                <a16:creationId xmlns:a16="http://schemas.microsoft.com/office/drawing/2014/main" id="{280643EE-A471-5A45-4071-4169F2074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4469F-24B2-6A44-D029-9FC110932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448699"/>
            <a:ext cx="15875814" cy="5943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6C2BB9-50FC-6956-6E86-9B446671A7C9}"/>
              </a:ext>
            </a:extLst>
          </p:cNvPr>
          <p:cNvSpPr txBox="1"/>
          <p:nvPr/>
        </p:nvSpPr>
        <p:spPr>
          <a:xfrm>
            <a:off x="2438400" y="30099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u="none" strike="noStrike" spc="173" dirty="0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  <a:endParaRPr lang="en-ZA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AE7AC4-767A-B0E1-00DF-965B813E16A6}"/>
              </a:ext>
            </a:extLst>
          </p:cNvPr>
          <p:cNvSpPr txBox="1"/>
          <p:nvPr/>
        </p:nvSpPr>
        <p:spPr>
          <a:xfrm>
            <a:off x="1561819" y="4162462"/>
            <a:ext cx="15354581" cy="2518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 algn="ctr">
              <a:lnSpc>
                <a:spcPts val="2714"/>
              </a:lnSpc>
              <a:spcBef>
                <a:spcPct val="0"/>
              </a:spcBef>
            </a:pPr>
            <a:r>
              <a:rPr lang="en-US" sz="2800" spc="192" dirty="0">
                <a:solidFill>
                  <a:srgbClr val="040506"/>
                </a:solidFill>
                <a:latin typeface="Montserrat"/>
                <a:ea typeface="Montserrat"/>
                <a:cs typeface="Montserrat"/>
                <a:sym typeface="Montserrat"/>
              </a:rPr>
              <a:t>The changes made to the network aims to improve performance, scalability and security of the network. The presentation is a logical overview of the implemented changes, for more information on the impact of the changes, please refer to the updated RFCs and Lans. </a:t>
            </a:r>
          </a:p>
          <a:p>
            <a:pPr marL="0" lvl="1" indent="0" algn="ctr">
              <a:lnSpc>
                <a:spcPts val="2714"/>
              </a:lnSpc>
              <a:spcBef>
                <a:spcPct val="0"/>
              </a:spcBef>
            </a:pPr>
            <a:endParaRPr lang="en-US" sz="2800" spc="192" dirty="0">
              <a:solidFill>
                <a:srgbClr val="0405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1" indent="0" algn="ctr">
              <a:lnSpc>
                <a:spcPts val="2714"/>
              </a:lnSpc>
              <a:spcBef>
                <a:spcPct val="0"/>
              </a:spcBef>
            </a:pPr>
            <a:endParaRPr lang="en-US" sz="2800" u="none" strike="noStrike" spc="192" dirty="0">
              <a:solidFill>
                <a:srgbClr val="0405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1" indent="0" algn="ctr">
              <a:lnSpc>
                <a:spcPts val="2714"/>
              </a:lnSpc>
              <a:spcBef>
                <a:spcPct val="0"/>
              </a:spcBef>
            </a:pPr>
            <a:endParaRPr lang="en-US" sz="2800" u="none" strike="noStrike" spc="192" dirty="0">
              <a:solidFill>
                <a:srgbClr val="04050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42804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1401</TotalTime>
  <Words>677</Words>
  <Application>Microsoft Office PowerPoint</Application>
  <PresentationFormat>Custom</PresentationFormat>
  <Paragraphs>141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Poppins</vt:lpstr>
      <vt:lpstr>Archivo Black</vt:lpstr>
      <vt:lpstr>Wingdings</vt:lpstr>
      <vt:lpstr>Calibri</vt:lpstr>
      <vt:lpstr>Arial</vt:lpstr>
      <vt:lpstr>Aptos</vt:lpstr>
      <vt:lpstr>Montserrat Bold</vt:lpstr>
      <vt:lpstr>Poppins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 Of the Updated 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Blue Modern Gradient Cybersecurity Presentation</dc:title>
  <cp:lastModifiedBy>Gloria Bokaba</cp:lastModifiedBy>
  <cp:revision>11</cp:revision>
  <dcterms:created xsi:type="dcterms:W3CDTF">2006-08-16T00:00:00Z</dcterms:created>
  <dcterms:modified xsi:type="dcterms:W3CDTF">2025-11-10T20:41:26Z</dcterms:modified>
  <dc:identifier>DAGoqNuLmBI</dc:identifier>
</cp:coreProperties>
</file>